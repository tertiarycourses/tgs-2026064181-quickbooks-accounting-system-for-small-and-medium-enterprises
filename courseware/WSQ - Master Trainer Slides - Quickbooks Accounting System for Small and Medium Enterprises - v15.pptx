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380" r:id="rId131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Revenue</c:v>
                </c:pt>
                <c:pt idx="1">
                  <c:v>Gross profit</c:v>
                </c:pt>
                <c:pt idx="2">
                  <c:v>Operating exp.</c:v>
                </c:pt>
                <c:pt idx="3">
                  <c:v>Net profit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72000</c:v>
                </c:pt>
                <c:pt idx="2">
                  <c:v>51000</c:v>
                </c:pt>
                <c:pt idx="3">
                  <c:v>21000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Receivables (SGD)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Sheet1!$A$2:$A$6</c:f>
              <c:strCache>
                <c:ptCount val="5"/>
                <c:pt idx="0">
                  <c:v>Current</c:v>
                </c:pt>
                <c:pt idx="1">
                  <c:v>1–30</c:v>
                </c:pt>
                <c:pt idx="2">
                  <c:v>31–60</c:v>
                </c:pt>
                <c:pt idx="3">
                  <c:v>61–90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48000</c:v>
                </c:pt>
                <c:pt idx="1">
                  <c:v>26000</c:v>
                </c:pt>
                <c:pt idx="2">
                  <c:v>14500</c:v>
                </c:pt>
                <c:pt idx="3">
                  <c:v>7800</c:v>
                </c:pt>
                <c:pt idx="4">
                  <c:v>4200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5113-Quickbooks-Accounting-System-for-Small-and-Medium-Enterprises" TargetMode="External"/><Relationship Id="rId3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quickbooks-accounting-system-for-small-and-medium-enterprises.html" TargetMode="Externa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5113-Quickbooks-Accounting-System-for-Small-and-Medium-Enterprises" TargetMode="External"/><Relationship Id="rId3" Type="http://schemas.openxmlformats.org/officeDocument/2006/relationships/hyperlink" Target="https://lms-tms.tertiaryinfotech.com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5.png"/>
          <p:cNvPicPr>
            <a:picLocks noChangeAspect="1"/>
          </p:cNvPicPr>
          <p:nvPr/>
        </p:nvPicPr>
        <p:blipFill>
          <a:blip r:embed="rId2"/>
          <a:srcRect l="25113" r="25113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53328" y="0"/>
            <a:ext cx="25603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3776"/>
            <a:ext cx="65836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389888"/>
            <a:ext cx="513892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64792"/>
            <a:ext cx="5257800" cy="2011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Quickbooks Accounting System for Small and Medium Enterprises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3858768"/>
            <a:ext cx="164592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25780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Code: TGS-2020505113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44568"/>
            <a:ext cx="52578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06440"/>
            <a:ext cx="5257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Version v15 · 15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208776"/>
            <a:ext cx="5257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Concept visual · all course text remains editable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AM digital attendance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PM digital attendance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Scan the SSG/TRAQOM QR shown by the trainer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33832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40280"/>
            <a:ext cx="1600200" cy="16002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240280"/>
            <a:ext cx="1600200" cy="1600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290779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36592"/>
            <a:ext cx="2907792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73736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78308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2441448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487168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87168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145536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191256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91256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849624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3895344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95344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4553712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599432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99432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525780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530352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33832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4028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240280"/>
            <a:ext cx="1600200" cy="1600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290779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36592"/>
            <a:ext cx="2907792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73736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78308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2441448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487168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87168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145536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191256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91256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Adult educator and technology practitioner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849624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3895344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95344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Digital productivity, accounting systems and business technology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4553712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599432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99432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WSQ and professional technology programmes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525780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530352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SME or industry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experience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outcome you want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Participate and ask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Respect different experience levels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Keep phones silent and data confidential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Return from breaks on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ONE CONNECTED SME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Orchid Bay Trading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Transact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Control GST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FOUR ALIGNED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1: Introduction to QuickBooks Online Plus Accounting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2: Input Data to QuickBooks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3: Manage Goods and Services Tax (GST)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4: Financial and Accounting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LO1: Configure and import relevant data to the QuickBooks accounting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LO2: Input and control day-to-day sales, purchasing, banking and inventory data in QuickBooks.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LO3: Compute and review GST for expenses and invoices using appropriate Singapore tax codes.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LO4: Generate and interpret financial, accounting, ageing and GST reports for SME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ACCOUNTING AND TAX SYSTEMS · ACC-ICT-4001-1.1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A1: Retrieve relevant data from other systems in the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A2: Input data into the accounting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A3: Use the system to determine and calculate supplier and vendor GST payables and receivables.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A4: Use the system to generate reports on corporate tax expenditure, assets and liabilities.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9:00 AM–6:00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09:00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to 18:00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Individual assessment; no discussion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 book: course materials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Phones and other materials under the 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own words; follow appeal and reassessment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WA (SAQ): 60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Oral Questioning: current paper 25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Competent requires all criteria met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At least 75% attendance and assessment completion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MANDATORY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 then 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DOWNLOAD FROM GITHUB OR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07492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48840"/>
            <a:ext cx="44805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88920"/>
            <a:ext cx="44805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git clone https://github.com/tertiarycourses/TGS-2020505113-Quickbooks-Accounting-System-for-Small-and-Medium-Enterprises.git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24528"/>
            <a:ext cx="44805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Open the course 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07492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48840"/>
            <a:ext cx="44805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788920"/>
            <a:ext cx="44805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GitHub → Code → Download ZIP
Then open the activities/ folder.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4224528"/>
            <a:ext cx="44805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  <a:hlinkClick r:id="rId3"/>
              </a:rPr>
              <a:t>Open courseware on the LMS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A1 ·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Introduction to QuickBooks Online Plus Accounting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Cloud accounting · company setup · master data ·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choices and the role of cloud accounting in an SME control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Company settings, financial year, GST profile, home currency and user-access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governed migration sequence for chart of accounts, customers, suppliers and products/services.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controls: cut-off, completeness, mapping, reconciliation and sign-off.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source document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Classify consistently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Post to ledgers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and decide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Accounting systems an SME may encounter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Manual records — low cost, weak control at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Desktop accounting — local control, limited collaboration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Cloud accounting — shared, current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ERP — integrated processes across functions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QuickBooks Online manages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Sales and receivables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Purchases and payables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Banking and reconciliation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Inventory, GST and reporting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accounting control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Authorised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Structured 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Automated ledger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Reviewable reports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QuickBooks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Core ledger and subledgers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 connections and imports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 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Accountant collaboration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a plan by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Transaction volume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Number and roles of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 and purchase orders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Reporting and automation needs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Company setup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Legal and customer-facing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Financial year and accounting 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registration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Home currency and multi-currency decision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Multi-currency is a governance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Confirm business need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the correct home currency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Understand exchange-rate effects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irreversible or plan-specific settings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roles and segregation of duties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Primary administrator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Company administrator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Standard user with scoped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Reports-only/accountant access where available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Chart of Accounts is the reporting spine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 type drives report placement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Detail type supports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Code and name support consistency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Inactive accounts preserve history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usable account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Stable coding convention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Right level of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Avoid duplicate meaning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Map legacy accounts before import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Master-data quality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Standardise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and supplier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Unique display name and contact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Terms and opening balance cut-off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and currency attributes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Duplicate prevention and ownership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Products and services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 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Non-inventory item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Service item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Bundle/category where available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item accounting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Inventory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Sale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Cost of goods sold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Opening balances need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Trial balance at cut-off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detail matches control totals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 statement agrees to cash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 quantity and value are supported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Migration control totals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count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Debit/credit totals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 balance totals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Exception log and sign-off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or enter manually?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import for clean repeatable lists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manual entry for low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Test a small sample first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Retain the source and import result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successful setup is not just complete; it is reconciled, access-controlled and explainable.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01 · FOUNDATION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SME Company and Control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Create a controlled QuickBooks company profile for Orchid Bay Trading Pte Ltd.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Company profile evidence, GST and financial-year settings, user-access matrix and setup sign-off.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Legal identity and financial year match the scenario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profile is documented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Home currency decision is approved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Access roles follow least privilege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activities/activity-01-company-setup-and-controls/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02 · FOUNDATION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 and Import Master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Prepare, validate and import the chart of accounts, customers, suppliers and products/services.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Import-ready CSV files, control totals, import results and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source files pass the quality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Counts reconcile before and after import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 duplicate display names remain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Account and item mappings are supportable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activities/activity-02-master-data-import/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choices and the role of cloud accounting in an SME control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Company settings, financial year, GST profile, home currency and user-access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governed migration sequence for chart of accounts, customers, suppliers and products/services.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controls: cut-off, completeness, mapping, reconciliation and sign-off.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2 · A2 · K2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Input Data to QuickBooks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Banking · sales · purchases · inventory · recurring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source-document-to-ledger cycle for bank, sales, purchasing and inventory transactions.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receivable from estimate through invoice, receipt, credit and overdue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payable from purchase order through bill, payment, supplier credit and recurring expense.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points for duplicate prevention, approvals, audit trail, class/location and reconciliation.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Transaction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 feeds and file imports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Connection can reduce rekeying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CSV import supports controlled batches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Downloaded does not mean correctly posted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every match, add and exclusion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Banking rule of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bank feed is a source; the ledger classification and reconciliation are the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 bank account correctly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account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Clear account name and number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 date and balance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Owner and reconciliation frequency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Match, add or exclude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Match an existing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 a genuine new transaction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Exclude non-business or duplicate feed 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exceptions before posting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Deposit, cheque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Deposit records money received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Cheque/expense records money paid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Transfer moves value between own accounts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Each needs date, account and evidence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 reconciliation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Statement ending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Add deposits in transit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outstanding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Equals ledger balance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Reconciliation differences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Wrong date or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Duplicate or missing transaction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Uncleared item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or bank-charge issue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Receive 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Deposit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Follow up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Estimate, invoice or sales receipt?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Estimate — non-posting offer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Invoice — sale on credit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Sales receipt — immediate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note — reduces customer balance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quality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customer and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Accurate product, quantity and 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Terms and tax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Unique document number and supporting evidence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form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Brand identity and contact details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Readable item and tax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Consistent payment terms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Preview before use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Receive and apply payment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Customer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Open invoice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Payment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Deposit destination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Balance validation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overdue invoices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ageing buckets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Prioritise material exposures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collection 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disputes and credit risk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Purchasing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Receive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bill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Expense, bill or cheque?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Expense — paid 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Bill — pay later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Cheque — payment instrument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 order — commitment, not expense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Three-way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Goods or service received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Approved bill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Supplier credits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the supplier credit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it to open bills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Preserve original documents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Verify AP control balance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Recurring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for predictable repeated entries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schedule and end condition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Choose reminder or automatic mode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templates periodically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quantity and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 increases quantity/value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Sale reduces quantity and recognises COGS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Adjustment needs reason and authorisation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Negative stock is a control warning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 and location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Class answers what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Location answers 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 stable taxonomy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unclassified transactions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log as detective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Who changed what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When the change occurred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Deleted or voided transactions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User patterns requiring review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 control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Fast data entry is useful only when source evidence, approval and reconciliation remain intact.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03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Banking Data and Reconcile January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Set up bank accounts, import statement lines and reconcile the January statement.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Imported bank batch, classified transactions, reconciliation report and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Imported row count matches the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 line is matched, added or excluded with a reason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Transfer is recorded 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Reconciliation difference is zero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activities/activity-03-banking-and-reconciliation/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04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the Sales and Receivables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Process an estimate, invoice, sales receipt, payment, customer credit and overdue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Complete customer transaction chain, AR ageing evidence and collection action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Estimate-to-invoice chain is intact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Payment and credit are applied correctly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is consistent with source documents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 ageing actions are specific and evidenced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activities/activity-04-sales-and-receivables/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05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Purchasing and Payables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Process purchase orders, supplier bills, payments, supplier credits and recurring expenses.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Approved procure-to-pay chain, AP ageing evidence and recurring-template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Three-way match is documented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Bill and payment retain source 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Supplier credit is applied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Recurring template has an owner and review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activities/activity-05-purchasing-and-payables/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06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Inventory, Classes, Locations and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Review inventory movements, classification quality and audit-log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Inventory roll-forward, unclassified-transaction report and audit-log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Inventory roll-forward reconciles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Unclassified items are resolved or logged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Audit samples identify user and 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Corrective actions have owner and due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activities/activity-06-inventory-classes-audit/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source-document-to-ledger cycle for bank, sales, purchasing and inventory transactions.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receivable from estimate through invoice, receipt, credit and overdue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payable from purchase order through bill, payment, supplier credit and recurring expense.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points for duplicate prevention, approvals, audit trail, class/location and reconciliation.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3 · A3 · K3 · K4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Manage Goods and Services Tax (GST)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Singapore GST · tax coding · input/output tax · GST F5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GST-registered businesses charge output tax and may claim eligible input tax under IRAS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correct current QuickBooks tax code for standard-rated, zero-rated, exempt and out-of-scope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GST detail, exception and control accounts before preparing GST F5 figures.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uncertain treatments; accounting software supports preparation but does not replace tax advice.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in the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charges input GST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Business records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Business charges output GST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Net amount settles with IRAS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Current Singapore GST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standard rate is 9% at publication; always verify time-sensitive tax rates and rules with IRAS.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Taxable and non-taxable treatment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Standard-rated supply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Zero-rated supply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Exempt supply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Out-of-scope transaction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Output tax and input 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 tax is collected on taxable sales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Input tax may be claimable on eligible business purchases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 output above input generally means payable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 input above output may mean refundable, subject to IRAS rules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control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Taxable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Apply correct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Gross amount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Return box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Tax-inclusive and tax-exclusive amounts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Exclusive: GST = net × rate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Inclusive: GST = gross × rate ÷ (1 + rate)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Rounding policy must be consistent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 document must support treatment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coding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Identify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Check registration/date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Determine place/type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Select current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exception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on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supply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Valid tax invoice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note reverses original treatment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Foreign-currency conversion is documented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on purchases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Business purpose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Valid supporting 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Claim eligibility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period and tax code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GST coding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Using standard rate by 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Claiming blocked/private expenses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Mixing exempt and out-of-scope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Back-dated changes after filing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control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 GST collected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Input GST claimable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payable/refundable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to GST detail and general ledger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F5 preparation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Lock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Run exception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GST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Prepare figures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 and file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Exception-report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Transactions without 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Unusual tax code by account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Negative or duplicate amounts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Changes to prior filed periods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reconciliation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Sales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Control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return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errors are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Quantify affected periods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Preserve an audit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through an approved method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Consult current IRAS guidance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Corporate tax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 profit is not chargeable income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corporate tax rate is 17%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Tax adjustments and reliefs are time-sensitive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IRAS guidance or a qualified adviser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Records support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 documents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Ledger and reconciliations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Approval evidence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Filed return and payment evidence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Correct GST reporting begins at transaction coding and ends with an evidenced reconciliation.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07 · INTERMEDIATE · A3 · K3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Code and Validate GST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Apply and validate Singapore GST treatment across a mixed transaction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coding register, calculation checks and resolved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 transaction has a supported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Formula checks agree to system tax amounts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Uncertain items are escalated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Credits mirror original tax treatment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activities/activity-07-gst-coding-control/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08 · ADVANCED · A3 · K3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Prepare the GST F5 Review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Reconcile GST ledgers and prepare a review pack for the quarterly GST return.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summary/detail reconciliation, exception report and reviewer sign-off pack.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detail agrees to control accounts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F5 control figures are formula-driven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Sample evidence is traceable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Preparer and reviewer sign-offs are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activities/activity-08-gst-f5-review/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GST-registered businesses charge output tax and may claim eligible input tax under IRAS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correct current QuickBooks tax code for standard-rated, zero-rated, exempt and out-of-scope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GST detail, exception and control accounts before preparing GST F5 figures.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uncertain treatments; accounting software supports preparation but does not replace tax advice.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4 · A4 · K5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Financial and Accounting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P&amp;L · balance sheet · cash flow · ageing · GST · custom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and Loss explains performance over a period; Balance Sheet explains position at a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flow, profit and working capital answer different management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turns overdue balances into collection and payment priorities.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accuracy depends on reconciled source data, correct basis, period, filters and review evidence.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Reports turn entries into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Ledgers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Reconciliations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Management action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Profit and Loss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cost of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Gross profit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operating expenses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Net profit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P&amp;L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Which revenue streams 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What drove gross margin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Which expenses are unusual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Are period and accounting basis correct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Assets = Liabilities + Owners' Equity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and non-current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and non-current liabilities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Equity and retained earnings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accounts requiring reconciliation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Snapshot at one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Book value may differ from market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Unrecorded intangibles may matter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Classification quality affects interpretation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P&amp;L versus Balance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P&amp;L covers a period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Balance Sheet is at a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changes retained earnings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is not the same as profit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versus profit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uses accrual accounting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 tracks cash movements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sales can raise profit before cash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Asset purchases use cash but are not immediately expensed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ageing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1–30 days overdue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31–60 days overdue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61+ days overdue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ageing to manage credit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 balances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Segment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Prioritise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Record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Escalate dispute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ageing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Protect supplier terms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Avoid duplicate 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Plan cash 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Resolve disputed bills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detail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Exception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Return preparation view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 parameters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Date range and as-of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or accrual basis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Classes, locations and filters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Comparison period and rounding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Define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Choose base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 filters/columns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 totals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Save and schedule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Scheduled reports need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recipient access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an approved cadence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Protect confidential attachments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Revalidate after chart/config changes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Check 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Scan anomalies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Trace a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Document reviewer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SME management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P&amp;L with prior-period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Balance Sheet with key reconciliations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and cash priorities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position and exception log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report is decision-ready only when its source data, parameters and review are evidenced.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Monthly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178308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82127" y="1874519"/>
            <a:ext cx="3419856" cy="382219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48840"/>
            <a:ext cx="2788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2788920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What drives gross margin?
•  Which expenses are unusual?
•  Does profit convert to cash?
•  Which action changes the trend?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AR Ageing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178308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82127" y="1874519"/>
            <a:ext cx="3419856" cy="382219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48840"/>
            <a:ext cx="2788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READ THE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2788920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Focus on material overdue balances
•  Separate dispute from collection risk
•  Assign owner and next action
•  Reconcile total to AR control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09 · ADVANCED · A4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Interpret the SME Reporting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Generate, validate and interpret core financial and ageing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P&amp;L, Balance Sheet, AR/AP ageing and management action summary.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Report parameters are consistent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Balance Sheet equation holds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Control accounts reconcile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Insights link to evidence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activities/activity-09-financial-reporting-pack/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10 · ADVANCED · A1 · A2 · A3 · A4 · K1–K5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Complete the Month-End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Complete a controlled month-end close for Orchid Bay Trading Pte Ltd and present a decision-ready management brief.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Closed-period checklist, reconciliations, GST review, reporting pack and management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five control accounts reconcile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Seeded anomalies are found and resolved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and reporting packs are supported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Management brief contains evidence-backed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activities/activity-10-month-end-capstone/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and Loss explains performance over a period; Balance Sheet explains position at a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flow, profit and working capital answer different management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turns overdue balances into collection and payment priorities.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accuracy depends on reconciled source data, correct basis, period, filters and review evidence.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LO1: Configure and import relevant data to the QuickBooks accounting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LO2: Input and control day-to-day sales, purchasing, banking and inventory data in QuickBooks.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LO3: Compute and review GST for expenses and invoices using appropriate Singapore tax codes.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LO4: Generate and interpret financial, accounting, ageing and GST reports for SME decisions.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DOWNLOAD · COMPLETE ·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031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the learner slides and Learner Guide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031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each activity folder and workbook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1605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the assessment in the scheduled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41605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Upload answers and retain submission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5815584"/>
            <a:ext cx="4251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WA (SAQ): 60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OQ: current paper 25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Individual and open book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 and submit as instructed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MANDATORY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 then 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Scan the SSG/TRAQOM QR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Submit before leaving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Confirm with the trainer if uncertain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QUICKBOOKS FOR 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clean data, sound controls and reconciled reports to make better SME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669280"/>
            <a:ext cx="4937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5B6372"/>
                </a:solidFill>
                <a:latin typeface="Arial"/>
                <a:hlinkClick r:id="rId2"/>
              </a:rPr>
              <a:t>enquiry@tertiaryinfotech.com · tertiarycourses.com.sg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pic>
        <p:nvPicPr>
          <p:cNvPr id="10" name="Picture 9" descr="ref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445" y="1613916"/>
            <a:ext cx="8408804" cy="41833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13232" y="5879592"/>
            <a:ext cx="10765231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Quickbooks Accounting System for Small and Medium Enterprises</dc:title>
  <dc:subject>WSQ TGS-2020505113 course slides</dc:subject>
  <dc:creator>Tertiary Infotech Academy Pte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